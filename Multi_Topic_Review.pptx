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389120"/>
            <a:ext cx="3474720" cy="3474720"/>
          </a:xfrm>
          <a:prstGeom prst="ellipse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</a:rPr>
              <a:t>⛅   🕐   😊   🏫   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62895" cy="2148840"/>
          </a:xfrm>
          <a:prstGeom prst="roundRect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FFFFFF"/>
                </a:solidFill>
              </a:rPr>
              <a:t>Multi-Topic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</a:rPr>
              <a:t>Grade 4 English · 四年級英語複習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10362895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B07309"/>
                </a:solidFill>
              </a:rPr>
              <a:t>天氣  ·  時間  ·  情緒  ·  教室用品  ·  介系詞  in / on /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23560"/>
            <a:ext cx="12191695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C3E50"/>
                </a:solidFill>
              </a:rPr>
              <a:t>https://Yuchiaoniu.github.io/english/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⛅  Weather  天氣單字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13232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☀️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sunny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晴天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4719" y="713232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⛅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cloudy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多雲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73680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🌧️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rainy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下雨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4719" y="2773680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💨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windy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颳風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834128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❄️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snowy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下雪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4719" y="4834128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🥶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cold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寒冷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⛅  Weather  天氣句型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11368735" cy="4206240"/>
          </a:xfrm>
          <a:prstGeom prst="roundRect">
            <a:avLst/>
          </a:prstGeom>
          <a:solidFill>
            <a:srgbClr val="FFFAE5"/>
          </a:solidFill>
          <a:ln w="444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2C3E50"/>
                </a:solidFill>
              </a:rPr>
              <a:t>What's the weather like?</a:t>
            </a:r>
          </a:p>
          <a:p>
            <a:pPr algn="ctr"/>
            <a:r>
              <a:rPr sz="4200" b="1">
                <a:solidFill>
                  <a:srgbClr val="B07309"/>
                </a:solidFill>
              </a:rPr>
              <a:t>It's  ___.</a:t>
            </a:r>
          </a:p>
          <a:p>
            <a:pPr algn="ctr"/>
            <a:r>
              <a:rPr sz="2400" b="0">
                <a:solidFill>
                  <a:srgbClr val="7F8C8D"/>
                </a:solidFill>
              </a:rPr>
              <a:t>（天氣怎麼樣？／ 今天天氣是 ___ 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30368"/>
            <a:ext cx="113687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B07309"/>
                </a:solidFill>
              </a:rPr>
              <a:t>☀️ It's sunny.    ⛅ It's cloudy.    🌧️ It's rainy.    💨 It's windy.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🕐  Time  時間單字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13232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🌅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morning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早上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4719" y="713232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☀️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afternoon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下午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73680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🌆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evening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傍晚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4719" y="2773680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🌙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night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晚上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834128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🕐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o'clock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點鐘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4719" y="4834128"/>
            <a:ext cx="5702655" cy="1914144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000"/>
              <a:t>🕧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half past</a:t>
            </a:r>
          </a:p>
          <a:p>
            <a:pPr algn="ctr"/>
            <a:r>
              <a:rPr sz="2200">
                <a:solidFill>
                  <a:srgbClr val="2C3E50"/>
                </a:solidFill>
              </a:rPr>
              <a:t>半（30 分）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🕐  Time  時間句型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11368735" cy="4206240"/>
          </a:xfrm>
          <a:prstGeom prst="roundRect">
            <a:avLst/>
          </a:prstGeom>
          <a:solidFill>
            <a:srgbClr val="FFFAE5"/>
          </a:solidFill>
          <a:ln w="444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2C3E50"/>
                </a:solidFill>
              </a:rPr>
              <a:t>What time is it?</a:t>
            </a:r>
          </a:p>
          <a:p>
            <a:pPr algn="ctr"/>
            <a:r>
              <a:rPr sz="4200" b="1">
                <a:solidFill>
                  <a:srgbClr val="B07309"/>
                </a:solidFill>
              </a:rPr>
              <a:t>It's  ___  o'clock.</a:t>
            </a:r>
          </a:p>
          <a:p>
            <a:pPr algn="ctr"/>
            <a:r>
              <a:rPr sz="2400" b="0">
                <a:solidFill>
                  <a:srgbClr val="7F8C8D"/>
                </a:solidFill>
              </a:rPr>
              <a:t>（現在幾點了？／ 現在是 ___ 點。）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30368"/>
            <a:ext cx="113687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B07309"/>
                </a:solidFill>
              </a:rPr>
              <a:t>🕒 It's three o'clock.    🕠 It's half past five.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😊  Feelings  情緒感覺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132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😄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happy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開心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4719" y="7132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😢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sad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難過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562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😠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angry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生氣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4719" y="22562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😨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scared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害怕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7993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🤩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excited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興奮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4719" y="37993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😴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tired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疲倦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3423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🏆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proud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驕傲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719" y="53423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😲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surprised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驚訝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😊  Feelings  情緒句型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11368735" cy="4206240"/>
          </a:xfrm>
          <a:prstGeom prst="roundRect">
            <a:avLst/>
          </a:prstGeom>
          <a:solidFill>
            <a:srgbClr val="FFFAE5"/>
          </a:solidFill>
          <a:ln w="444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2C3E50"/>
                </a:solidFill>
              </a:rPr>
              <a:t>How do you feel?</a:t>
            </a:r>
          </a:p>
          <a:p>
            <a:pPr algn="ctr"/>
            <a:r>
              <a:rPr sz="4200" b="1">
                <a:solidFill>
                  <a:srgbClr val="B07309"/>
                </a:solidFill>
              </a:rPr>
              <a:t>I feel  ___.</a:t>
            </a:r>
          </a:p>
          <a:p>
            <a:pPr algn="ctr"/>
            <a:r>
              <a:rPr sz="2400" b="0">
                <a:solidFill>
                  <a:srgbClr val="7F8C8D"/>
                </a:solidFill>
              </a:rPr>
              <a:t>（你感覺怎麼樣？／ 我感覺 ___ 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30368"/>
            <a:ext cx="113687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B07309"/>
                </a:solidFill>
              </a:rPr>
              <a:t>😄 I feel happy.    😢 I feel sad.    😠 I feel angry.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🏫  Classroom  教室用品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132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🪑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chair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椅子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4719" y="7132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📋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board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黑板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562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🪟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window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窗戶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4719" y="22562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🚪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door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7993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📚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book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4719" y="379933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✏️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pen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3423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📏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ruler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719" y="5342382"/>
            <a:ext cx="5702655" cy="142417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/>
              <a:t>🎒</a:t>
            </a:r>
          </a:p>
          <a:p>
            <a:pPr algn="ctr"/>
            <a:r>
              <a:rPr sz="2200" b="1">
                <a:solidFill>
                  <a:srgbClr val="B07309"/>
                </a:solidFill>
              </a:rPr>
              <a:t>bag</a:t>
            </a:r>
          </a:p>
          <a:p>
            <a:pPr algn="ctr"/>
            <a:r>
              <a:rPr sz="1600">
                <a:solidFill>
                  <a:srgbClr val="2C3E50"/>
                </a:solidFill>
              </a:rPr>
              <a:t>書包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🏫  Classroom  教室句型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96112"/>
            <a:ext cx="11368735" cy="4206240"/>
          </a:xfrm>
          <a:prstGeom prst="roundRect">
            <a:avLst/>
          </a:prstGeom>
          <a:solidFill>
            <a:srgbClr val="FFFAE5"/>
          </a:solidFill>
          <a:ln w="444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2C3E50"/>
                </a:solidFill>
              </a:rPr>
              <a:t>Where is the  ___?</a:t>
            </a:r>
          </a:p>
          <a:p>
            <a:pPr algn="ctr"/>
            <a:r>
              <a:rPr sz="4200" b="1">
                <a:solidFill>
                  <a:srgbClr val="B07309"/>
                </a:solidFill>
              </a:rPr>
              <a:t>It is  ___  the  ___.</a:t>
            </a:r>
          </a:p>
          <a:p>
            <a:pPr algn="ctr"/>
            <a:r>
              <a:rPr sz="2400" b="0">
                <a:solidFill>
                  <a:srgbClr val="7F8C8D"/>
                </a:solidFill>
              </a:rPr>
              <a:t>（___ 在哪裡？／ 它在 ___ 的 ___ 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30368"/>
            <a:ext cx="113687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B07309"/>
                </a:solidFill>
              </a:rPr>
              <a:t>📚 The book is on the desk.    ✏️ The pen is in the bag.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📍  Prepositions  介系詞 in / on / 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B07309"/>
                </a:solidFill>
              </a:rPr>
              <a:t>AT</a:t>
            </a:r>
          </a:p>
          <a:p>
            <a:pPr algn="ctr"/>
            <a:r>
              <a:rPr sz="4000" b="0">
                <a:solidFill>
                  <a:srgbClr val="2C3E50"/>
                </a:solidFill>
              </a:rPr>
              <a:t>📍</a:t>
            </a:r>
          </a:p>
          <a:p>
            <a:pPr algn="ctr"/>
            <a:r>
              <a:rPr sz="2200" b="1">
                <a:solidFill>
                  <a:srgbClr val="2C3E50"/>
                </a:solidFill>
              </a:rPr>
              <a:t>點（Point）</a:t>
            </a:r>
          </a:p>
          <a:p>
            <a:pPr algn="ctr"/>
            <a:r>
              <a:rPr sz="1600" b="0">
                <a:solidFill>
                  <a:srgbClr val="7F8C8D"/>
                </a:solidFill>
              </a:rPr>
              <a:t>一個明確的地點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at home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at school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at the bus 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6473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B07309"/>
                </a:solidFill>
              </a:rPr>
              <a:t>ON</a:t>
            </a:r>
          </a:p>
          <a:p>
            <a:pPr algn="ctr"/>
            <a:r>
              <a:rPr sz="4000" b="0">
                <a:solidFill>
                  <a:srgbClr val="2C3E50"/>
                </a:solidFill>
              </a:rPr>
              <a:t>🛣️</a:t>
            </a:r>
          </a:p>
          <a:p>
            <a:pPr algn="ctr"/>
            <a:r>
              <a:rPr sz="2200" b="1">
                <a:solidFill>
                  <a:srgbClr val="2C3E50"/>
                </a:solidFill>
              </a:rPr>
              <a:t>線／面（Line / Surface）</a:t>
            </a:r>
          </a:p>
          <a:p>
            <a:pPr algn="ctr"/>
            <a:r>
              <a:rPr sz="1600" b="0">
                <a:solidFill>
                  <a:srgbClr val="7F8C8D"/>
                </a:solidFill>
              </a:rPr>
              <a:t>在某個表面或路線上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on the bus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on the road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on the desk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72907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B07309"/>
                </a:solidFill>
              </a:rPr>
              <a:t>IN</a:t>
            </a:r>
          </a:p>
          <a:p>
            <a:pPr algn="ctr"/>
            <a:r>
              <a:rPr sz="4000" b="0">
                <a:solidFill>
                  <a:srgbClr val="2C3E50"/>
                </a:solidFill>
              </a:rPr>
              <a:t>📦</a:t>
            </a:r>
          </a:p>
          <a:p>
            <a:pPr algn="ctr"/>
            <a:r>
              <a:rPr sz="2200" b="1">
                <a:solidFill>
                  <a:srgbClr val="2C3E50"/>
                </a:solidFill>
              </a:rPr>
              <a:t>面／空間（Area / Space）</a:t>
            </a:r>
          </a:p>
          <a:p>
            <a:pPr algn="ctr"/>
            <a:r>
              <a:rPr sz="1600" b="0">
                <a:solidFill>
                  <a:srgbClr val="7F8C8D"/>
                </a:solidFill>
              </a:rPr>
              <a:t>在某個空間或範圍裡面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in the box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in the classroom</a:t>
            </a:r>
          </a:p>
          <a:p>
            <a:pPr algn="ctr"/>
            <a:r>
              <a:rPr sz="2000" b="0">
                <a:solidFill>
                  <a:srgbClr val="B07309"/>
                </a:solidFill>
              </a:rPr>
              <a:t>in Taiwan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📍  AT  點狀位置（明確的一個地點）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🏠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at home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6473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🏫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at school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在學校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72907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🚌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at the bus stop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在公車站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🛣️  ON  表面 / 路線上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🛣️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on the road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在路上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6473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🚌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on the bus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在公車上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72907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📚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on the shelf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在書架上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📦  IN  空間 / 範圍裡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🏫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in the classroom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在教室裡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6473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📦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in the box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在箱子裡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72907" y="749808"/>
            <a:ext cx="3697833" cy="5833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0" b="0">
                <a:solidFill>
                  <a:srgbClr val="2C3E50"/>
                </a:solidFill>
              </a:rPr>
              <a:t>🌏</a:t>
            </a:r>
          </a:p>
          <a:p>
            <a:pPr algn="ctr"/>
            <a:r>
              <a:rPr sz="3000" b="1">
                <a:solidFill>
                  <a:srgbClr val="B07309"/>
                </a:solidFill>
              </a:rPr>
              <a:t>in Taiwan</a:t>
            </a:r>
          </a:p>
          <a:p>
            <a:pPr algn="ctr"/>
            <a:r>
              <a:rPr sz="2200" b="0">
                <a:solidFill>
                  <a:srgbClr val="2C3E50"/>
                </a:solidFill>
              </a:rPr>
              <a:t>在台灣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✏️  Fill in the Blank  填空練習（in / on / at）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49808"/>
            <a:ext cx="11423599" cy="131673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2C3E50"/>
                </a:solidFill>
              </a:rPr>
              <a:t>1.  The cat is ___  the box.   →  Answer :  ( in )</a:t>
            </a:r>
          </a:p>
          <a:p>
            <a:pPr algn="l"/>
            <a:r>
              <a:rPr sz="2000" b="0">
                <a:solidFill>
                  <a:srgbClr val="7F8C8D"/>
                </a:solidFill>
              </a:rPr>
              <a:t>       貓在箱子裡。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176272"/>
            <a:ext cx="11423599" cy="131673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2C3E50"/>
                </a:solidFill>
              </a:rPr>
              <a:t>2.  She is ___  school.   →  Answer :  ( at )</a:t>
            </a:r>
          </a:p>
          <a:p>
            <a:pPr algn="l"/>
            <a:r>
              <a:rPr sz="2000" b="0">
                <a:solidFill>
                  <a:srgbClr val="7F8C8D"/>
                </a:solidFill>
              </a:rPr>
              <a:t>       她在學校。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602736"/>
            <a:ext cx="11423599" cy="131673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2C3E50"/>
                </a:solidFill>
              </a:rPr>
              <a:t>3.  The book is ___  the desk.   →  Answer :  ( on )</a:t>
            </a:r>
          </a:p>
          <a:p>
            <a:pPr algn="l"/>
            <a:r>
              <a:rPr sz="2000" b="0">
                <a:solidFill>
                  <a:srgbClr val="7F8C8D"/>
                </a:solidFill>
              </a:rPr>
              <a:t>       書在桌子上。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5029200"/>
            <a:ext cx="11423599" cy="131673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2C3E50"/>
                </a:solidFill>
              </a:rPr>
              <a:t>4.  We are ___  Taiwan.   →  Answer :  ( in )</a:t>
            </a:r>
          </a:p>
          <a:p>
            <a:pPr algn="l"/>
            <a:r>
              <a:rPr sz="2000" b="0">
                <a:solidFill>
                  <a:srgbClr val="7F8C8D"/>
                </a:solidFill>
              </a:rPr>
              <a:t>       我們在台灣。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2C3E50"/>
                </a:solidFill>
              </a:rPr>
              <a:t>🌟  Review Quiz  複習測驗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49808"/>
            <a:ext cx="11423599" cy="12618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2C3E50"/>
                </a:solidFill>
              </a:rPr>
              <a:t>1.  What's the weather like?   ___ cloudy.</a:t>
            </a:r>
          </a:p>
          <a:p>
            <a:pPr algn="l"/>
            <a:r>
              <a:rPr sz="2000" b="0">
                <a:solidFill>
                  <a:srgbClr val="B07309"/>
                </a:solidFill>
              </a:rPr>
              <a:t>   (A) It's   (B) I'm   (C) They're   ✓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121408"/>
            <a:ext cx="11423599" cy="12618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2C3E50"/>
                </a:solidFill>
              </a:rPr>
              <a:t>2.  How do you feel?   I feel ___.</a:t>
            </a:r>
          </a:p>
          <a:p>
            <a:pPr algn="l"/>
            <a:r>
              <a:rPr sz="2000" b="0">
                <a:solidFill>
                  <a:srgbClr val="B07309"/>
                </a:solidFill>
              </a:rPr>
              <a:t>   (A) happy   (B) morning   (C) school   ✓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493008"/>
            <a:ext cx="11423599" cy="12618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2C3E50"/>
                </a:solidFill>
              </a:rPr>
              <a:t>3.  The pen is ___ the desk.</a:t>
            </a:r>
          </a:p>
          <a:p>
            <a:pPr algn="l"/>
            <a:r>
              <a:rPr sz="2000" b="0">
                <a:solidFill>
                  <a:srgbClr val="B07309"/>
                </a:solidFill>
              </a:rPr>
              <a:t>   (A) in   (B) on   (C) at   ✓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864608"/>
            <a:ext cx="11423599" cy="12618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2C3E50"/>
                </a:solidFill>
              </a:rPr>
              <a:t>4.  ___ is it?   It's three o'clock.</a:t>
            </a:r>
          </a:p>
          <a:p>
            <a:pPr algn="l"/>
            <a:r>
              <a:rPr sz="2000" b="0">
                <a:solidFill>
                  <a:srgbClr val="B07309"/>
                </a:solidFill>
              </a:rPr>
              <a:t>   (A) Where   (B) What time   (C) How   ✓ 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389120"/>
            <a:ext cx="3474720" cy="3474720"/>
          </a:xfrm>
          <a:prstGeom prst="ellipse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2C3E50"/>
                </a:solidFill>
              </a:rPr>
              <a:t>🌟   🌟   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057400"/>
            <a:ext cx="9631375" cy="1920240"/>
          </a:xfrm>
          <a:prstGeom prst="roundRect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FFFFFF"/>
                </a:solidFill>
              </a:rPr>
              <a:t>Great Job!  你做到了！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2C3E50"/>
                </a:solidFill>
              </a:rPr>
              <a:t>你已完成所有主題的複習！Keep it up!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37760"/>
            <a:ext cx="12191695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</a:rPr>
              <a:t>https://Yuchiaoniu.github.io/english/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