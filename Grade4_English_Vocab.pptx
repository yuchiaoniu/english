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200" b="1">
                <a:solidFill>
                  <a:srgbClr val="FFFFFF"/>
                </a:solidFill>
              </a:rPr>
              <a:t>Grade 4 English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600" b="0">
                <a:solidFill>
                  <a:srgbClr val="FFFFFF"/>
                </a:solidFill>
              </a:rPr>
              <a:t>四年級英語教材  ·  Units 1–8  ·  單字總覽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000" b="0">
                <a:solidFill>
                  <a:srgbClr val="FFFFFF"/>
                </a:solidFill>
              </a:rPr>
              <a:t>每單元 16 個單字　共 128 個核心詞彙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0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Hello, Friends!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hello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你好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ㄋㄧˇ ㄏㄠˇ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goodbye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再見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ㄗㄞˋ ㄐㄧㄢˋ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friend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朋友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ㄆㄥˊ ㄧㄡˇ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🏷️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名字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ㄇㄧㄥˊ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班級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ㄅㄢ ㄐㄧˊ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👩‍🏫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teacher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老師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ㄌㄠˇ ㄕ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學生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ㄒㄩㄝˊ ㄕㄥ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boy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男生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ㄋㄢˊ ㄕㄥ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girl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女生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ㄋㄩˇ ㄕㄥ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nice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好的/棒的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ㄏㄠˇ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meet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認識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ㄖㄣˋ ˙ㄕ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new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新的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ㄒㄧㄣ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please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ㄑㄧㄥˇ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yes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是/對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ㄉㄨㄟˋ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no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ㄅㄨˋ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4A90D9"/>
                </a:solidFill>
              </a:rPr>
              <a:t>sorry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對不起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ㄉㄨㄟˋ ˙ㄅㄨ ㄑㄧˇ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1 · Hello, Friends!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4A90D9"/>
                </a:solidFill>
              </a:rPr>
              <a:t>Unit 1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👋  hello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你好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🙋  goodbye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再見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👫  friend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朋友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🏷️  name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名字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🎒  class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班級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👩‍🏫  teacher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老師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🧒  student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學生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👦  boy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男生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👧  girl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女生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😊  nice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好的/棒的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🤝  meet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認識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✨  new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新的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🙏  please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請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✅  yes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是/對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❌  no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不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😔  sorry</a:t>
            </a:r>
          </a:p>
          <a:p>
            <a:pPr algn="ctr"/>
            <a:r>
              <a:rPr sz="1400">
                <a:solidFill>
                  <a:srgbClr val="4A90D9"/>
                </a:solidFill>
              </a:rPr>
              <a:t>對不起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4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My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👨‍👩‍👧‍👦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家人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ㄐㄧㄚ ㄖㄣˊ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father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爸爸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ㄅㄚˋ ˙ㄅㄚ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mother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媽媽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ㄇㄚ ˙ㄇㄚ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brother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哥哥/弟弟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ㄍㄜ ˙ㄍㄜ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sister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姐姐/妹妹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ㄐㄧㄝˇ ˙ㄐㄧㄝ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grandpa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爺爺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ㄧㄝˊ ˙ㄧㄝ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grandma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奶奶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ㄋㄞˇ ˙ㄋㄞ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baby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嬰兒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ㄧㄥ ㄦˊ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uncle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叔叔/伯伯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ㄕㄨˊ ˙ㄕㄨ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aunt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阿姨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ㄚ ㄧˊ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cousin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堂/表兄弟姐妹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ㄅㄧㄠˇ ㄒㄩㄥ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兒子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ㄦˊ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daughter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女兒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ㄋㄩˇ ㄦˊ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ㄐㄧㄚ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❤️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love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ㄞˋ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8746A"/>
                </a:solidFill>
              </a:rPr>
              <a:t>happy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快樂的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ㄎㄨㄞˋ ㄌㄜˋ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87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2 · My Family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E8746A"/>
                </a:solidFill>
              </a:rPr>
              <a:t>Unit 2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👨‍👩‍👧‍👦  family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家人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👨  father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爸爸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👩  mother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媽媽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👦  brother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哥哥/弟弟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👧  sister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姐姐/妹妹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👴  grandpa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爺爺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👵  grandma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奶奶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👶  baby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嬰兒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🧔  uncle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叔叔/伯伯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👩  aunt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阿姨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👫  cousin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堂/表兄弟姐妹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👦  son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兒子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👧  daughter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女兒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🏠  home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家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❤️  love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愛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7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😄  happy</a:t>
            </a:r>
          </a:p>
          <a:p>
            <a:pPr algn="ctr"/>
            <a:r>
              <a:rPr sz="1400">
                <a:solidFill>
                  <a:srgbClr val="E8746A"/>
                </a:solidFill>
              </a:rPr>
              <a:t>快樂的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B5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At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學校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ㄒㄩㄝˊ ㄒㄧㄠˋ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classroom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教室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ㄐㄧㄠˋ ㄕˋ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桌子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ㄓㄨㄛ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chair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椅子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ㄧˇ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ㄕㄨ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✏️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pencil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鉛筆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ㄑㄧㄢ ㄅㄧˇ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ruler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ㄔˇ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bag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書包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ㄕㄨ ㄅㄠ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eraser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橡皮擦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ㄒㄧㄤˋ ㄆㄧˊ ㄘㄚ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🖍️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crayon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蠟筆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ㄌㄚˋ ㄅㄧˇ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筆記本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ㄅㄧˇ ㄐㄧˋ ˙ㄅㄣ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🖊️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原子筆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ㄩㄢˊ ˙ㄗ ㄅㄧˇ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✂️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scissors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剪刀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ㄐㄧㄢˇ ㄉㄠ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glue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膠水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ㄐㄧㄠ ㄕㄨㄟˇ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🖼️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黑板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ㄏㄟ ㄅㄢˇ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5BB57E"/>
                </a:solidFill>
              </a:rPr>
              <a:t>door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ㄇㄣˊ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B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3 · At School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5BB57E"/>
                </a:solidFill>
              </a:rPr>
              <a:t>Unit 3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🏫  school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學校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🚪  classroom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教室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🪑  desk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桌子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💺  chair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椅子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📚  book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書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✏️  pencil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鉛筆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📏  ruler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尺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🎒  bag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書包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🧹  eraser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橡皮擦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🖍️  crayon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蠟筆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📓  notebook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筆記本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🖊️  pen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原子筆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✂️  scissors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剪刀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🧴  glue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膠水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🖼️  board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黑板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B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🚪  door</a:t>
            </a:r>
          </a:p>
          <a:p>
            <a:pPr algn="ctr"/>
            <a:r>
              <a:rPr sz="1400">
                <a:solidFill>
                  <a:srgbClr val="5BB57E"/>
                </a:solidFill>
              </a:rPr>
              <a:t>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A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I'm Hungry!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apple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蘋果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ㄆㄧㄥˊ ㄍㄨㄛˇ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banana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香蕉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ㄒㄧㄤ ㄐㄧㄠ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ㄈㄢˋ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milk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牛奶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ㄋㄧㄡˊ ㄋㄞˇ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juice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果汁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ㄍㄨㄛˇ ㄓ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bread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麵包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ㄇㄧㄢˋ ㄅㄠ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egg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雞蛋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 ㄉㄢˋ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water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ㄕㄨㄟˇ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cookie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餅乾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ㄅㄧㄥˇ ㄍㄢ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cake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蛋糕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ㄉㄢˋ ㄍㄠ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soup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ㄊㄤ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noodles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麵條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ㄇㄧㄢˋ ㄊㄧㄠˊ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orange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柳橙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ㄌㄧㄡˇ ㄔㄥˊ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grape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葡萄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ㄆㄨˊ ˙ㄊㄠ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sandwich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三明治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ㄙㄢ ㄇㄧㄥˊ ㄓˋ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F5A623"/>
                </a:solidFill>
              </a:rPr>
              <a:t>hungry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餓的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4 · I'm Hungry!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F5A623"/>
                </a:solidFill>
              </a:rPr>
              <a:t>Unit 4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🍎  apple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蘋果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🍌  banana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香蕉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🍚  rice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飯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🥛  milk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牛奶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🧃  juice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果汁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🍞  bread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麵包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🥚  egg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雞蛋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💧  water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水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🍪  cookie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餅乾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🎂  cake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蛋糕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🍲  soup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湯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🍜  noodles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麵條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🍊  orange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柳橙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🍇  grape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葡萄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🥪  sandwich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三明治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😋  hungry</a:t>
            </a:r>
          </a:p>
          <a:p>
            <a:pPr algn="ctr"/>
            <a:r>
              <a:rPr sz="1400">
                <a:solidFill>
                  <a:srgbClr val="F5A623"/>
                </a:solidFill>
              </a:rPr>
              <a:t>餓的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Animals I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cat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dog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ㄍㄡˇ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rabbit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兔子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ㄊㄨˋ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bird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ㄋㄧㄠˇ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fish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ㄩˊ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bear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ㄒㄩㄥˊ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tiger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老虎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ㄌㄠˇ ㄏㄨˇ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elephant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大象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ㄉㄚˋ ㄒㄧㄤˋ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monkey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猴子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ㄏㄡˊ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lion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獅子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panda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熊貓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ㄒㄩㄥˊ ㄇㄠ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horse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ㄇㄚˇ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frog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青蛙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ㄑㄧㄥ ㄨㄚ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turtle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烏龜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ㄨ ㄍㄨㄟ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butterfly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蝴蝶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ㄏㄨˊ ㄉㄧㄝˊ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9B59B6"/>
                </a:solidFill>
              </a:rPr>
              <a:t>duck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鴨子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ㄧㄚ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5 · Animals I Like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9B59B6"/>
                </a:solidFill>
              </a:rPr>
              <a:t>Unit 5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🐱  cat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貓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🐶  dog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狗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🐰  rabbit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兔子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🐦  bird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鳥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🐟  fish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魚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🐻  bear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熊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🐯  tiger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老虎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🐘  elephant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大象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🐵  monkey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猴子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🦁  lion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獅子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🐼  panda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熊貓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🐴  horse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馬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🐸  frog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青蛙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🐢  turtle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烏龜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🦋  butterfly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蝴蝶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🦆  duck</a:t>
            </a:r>
          </a:p>
          <a:p>
            <a:pPr algn="ctr"/>
            <a:r>
              <a:rPr sz="1400">
                <a:solidFill>
                  <a:srgbClr val="9B59B6"/>
                </a:solidFill>
              </a:rPr>
              <a:t>鴨子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5E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Dress Up!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紅色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ㄏㄨㄥˊ ㄙㄜˋ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blue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藍色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ㄌㄢˊ ㄙㄜˋ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yellow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黃色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ㄏㄨㄤˊ ㄙㄜˋ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green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綠色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ㄌㄩˋ ㄙㄜˋ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purple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紫色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ㄗˇ ㄙㄜˋ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pink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粉紅色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ㄈㄣˇ ㄏㄨㄥˊ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shirt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上衣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ㄕㄤˋ ㄧ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pants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褲子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ㄎㄨˋ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dress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洋裝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ㄧㄤˊ ㄓㄨㄤ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shoes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鞋子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ㄒㄧㄝˊ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帽子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ㄇㄠˋ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socks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襪子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ㄨㄚˋ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jacket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夾克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ㄐㄧㄚ ㄎㄜˋ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scarf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圍巾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ㄨㄟˊ ㄐㄧㄣ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gloves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手套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ㄕㄡˇ ㄊㄠˋ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E95EA0"/>
                </a:solidFill>
              </a:rPr>
              <a:t>boots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靴子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ㄒㄩㄝ ˙ㄗ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E9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6 · Dress Up!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E95EA0"/>
                </a:solidFill>
              </a:rPr>
              <a:t>Unit 6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🔴  red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紅色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🔵  blue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藍色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🟡  yellow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黃色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🟢  green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綠色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🟣  purple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紫色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🩷  pink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粉紅色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👕  shirt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上衣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👖  pants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褲子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👗  dress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洋裝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👟  shoes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鞋子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🎩  hat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帽子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🧦  socks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襪子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🧥  jacket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夾克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🧣  scarf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圍巾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🧤  gloves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手套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👢  boots</a:t>
            </a:r>
          </a:p>
          <a:p>
            <a:pPr algn="ctr"/>
            <a:r>
              <a:rPr sz="1400">
                <a:solidFill>
                  <a:srgbClr val="E95EA0"/>
                </a:solidFill>
              </a:rPr>
              <a:t>靴子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What Time Is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2️⃣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ㄦˋ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3️⃣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ㄙㄢ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4️⃣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four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ㄙˋ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5️⃣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five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ㄨˇ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6️⃣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six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ㄌㄧㄡˋ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7️⃣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seven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ㄑㄧ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8️⃣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ㄅㄚ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9️⃣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nine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ㄐㄧㄡˇ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時鐘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ㄕˊ ㄓㄨㄥ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ㄕˊ ㄐㄧㄢ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morning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早上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ㄗㄠˇ ˙ㄕㄤ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☀️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afternoon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ㄒㄧㄚˋ ˙ㄨ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night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晚上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ㄨㄢˇ ˙ㄕㄤ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16A085"/>
                </a:solidFill>
              </a:rPr>
              <a:t>o'clock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...點鐘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˙ㄉㄧㄢ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7 · What Time Is It?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16A085"/>
                </a:solidFill>
              </a:rPr>
              <a:t>Unit 7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1️⃣  one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一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2️⃣  two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二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3️⃣  three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三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4️⃣  four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四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5️⃣  five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五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6️⃣  six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六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7️⃣  seven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七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8️⃣  eight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八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9️⃣  nine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九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🔟  ten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十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🕐  clock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時鐘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⌚  time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時間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🌅  morning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早上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☀️  afternoon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下午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🌙  night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晚上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⏰  o'clock</a:t>
            </a:r>
          </a:p>
          <a:p>
            <a:pPr algn="ctr"/>
            <a:r>
              <a:rPr sz="1400">
                <a:solidFill>
                  <a:srgbClr val="16A085"/>
                </a:solidFill>
              </a:rPr>
              <a:t>...點鐘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6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Unit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What's the Weather?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73152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Vocabulary  ·  16 words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☀️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sunny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晴天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ㄑㄧㄥˊ ㄊㄧㄢ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🌧️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rainy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下雨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ㄒㄧㄚˋ ㄩˇ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☁️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cloudy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陰天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ㄧㄣ ㄊㄧㄢ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windy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刮風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ㄍㄨㄚ ㄈㄥ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❄️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snowy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下雪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ㄒㄧㄚˋ ㄒㄩㄝˇ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🌫️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foggy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有霧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ㄧㄡˇ ㄨˋ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cold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ㄌㄥˇ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ㄖㄜˋ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🌤️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warm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溫暖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ㄨㄣ ㄋㄨㄢˇ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cool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涼爽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ㄌㄧㄤˊ ㄕㄨㄤˇ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☂️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umbrella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雨傘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ㄩˇ ㄙㄢˇ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coat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外套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ㄨㄞˋ ㄊㄠˋ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rainbow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彩虹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ㄘㄞˇ ㄏㄨㄥˊ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⛈️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storm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暴風雨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ㄅㄠˋ ㄈㄥ ㄩˇ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thunder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打雷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ㄉㄚˇ ㄌㄟˊ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9600" b="0">
                <a:solidFill>
                  <a:srgbClr val="2C3E50"/>
                </a:solidFill>
              </a:rPr>
              <a:t>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74552" cy="13716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7200" b="1">
                <a:solidFill>
                  <a:srgbClr val="276FBF"/>
                </a:solidFill>
              </a:rPr>
              <a:t>weather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69080"/>
            <a:ext cx="3959352" cy="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576072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4000" b="1">
                <a:solidFill>
                  <a:srgbClr val="2C3E50"/>
                </a:solidFill>
              </a:rPr>
              <a:t>天氣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9144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3200" b="0">
                <a:solidFill>
                  <a:srgbClr val="7F8C8D"/>
                </a:solidFill>
              </a:rPr>
              <a:t>ㄊㄧㄢ ㄑㄧˋ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6309360"/>
            <a:ext cx="1216152" cy="411480"/>
          </a:xfrm>
          <a:prstGeom prst="ellipse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FFFFFF"/>
                </a:solidFill>
              </a:rPr>
              <a:t>  Unit 8 · What's the Weather?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4008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2800" b="1">
                <a:solidFill>
                  <a:srgbClr val="276FBF"/>
                </a:solidFill>
              </a:rPr>
              <a:t>Unit 8 單字總整理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☀️  sunny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晴天</a:t>
            </a:r>
          </a:p>
        </p:txBody>
      </p:sp>
      <p:sp>
        <p:nvSpPr>
          <p:cNvPr id="5" name="Oval 4"/>
          <p:cNvSpPr/>
          <p:nvPr/>
        </p:nvSpPr>
        <p:spPr>
          <a:xfrm>
            <a:off x="301752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🌧️  rainy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下雨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☁️  cloudy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陰天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128016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💨  windy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刮風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❄️  snowy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下雪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🌫️  foggy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有霧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🥶  cold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冷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56032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🥵  hot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熱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🌤️  warm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溫暖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🍃  cool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涼爽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☂️  umbrella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雨傘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384048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🧥  coat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外套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🌈  rainbow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彩虹</a:t>
            </a:r>
          </a:p>
        </p:txBody>
      </p:sp>
      <p:sp>
        <p:nvSpPr>
          <p:cNvPr id="17" name="Oval 16"/>
          <p:cNvSpPr/>
          <p:nvPr/>
        </p:nvSpPr>
        <p:spPr>
          <a:xfrm>
            <a:off x="301752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⛈️  storm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暴風雨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⚡  thunder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打雷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5120640"/>
            <a:ext cx="27432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C3E50"/>
                </a:solidFill>
              </a:rPr>
              <a:t>🌡️  weather</a:t>
            </a:r>
          </a:p>
          <a:p>
            <a:pPr algn="ctr"/>
            <a:r>
              <a:rPr sz="1400">
                <a:solidFill>
                  <a:srgbClr val="276FBF"/>
                </a:solidFill>
              </a:rPr>
              <a:t>天氣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