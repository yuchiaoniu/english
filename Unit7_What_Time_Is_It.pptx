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E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0E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0">
                <a:solidFill>
                  <a:srgbClr val="FFFFFF"/>
                </a:solidFill>
              </a:rPr>
              <a:t>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Unit 7 · What Time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現在幾點？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四年級英語 · 單字 16 · 句型 2 · 對話 · 測驗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🌐  https://Yuchiaoniu.github.io/english/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Vocabulary 單字總覽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本課單字 16 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" y="150876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🕐  one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82696" y="150876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🕑  two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0876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🕒  three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150876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🕓  four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269748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🕔  five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82696" y="269748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🕕  six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69748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🕖  seven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69748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🕗  eight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388620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🕘  nine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2696" y="388620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🕙  ten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88620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🕐  clock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時鐘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88620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⌚  time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時間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507492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🌅  morning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早上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82696" y="507492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☀️  afternoon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下午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507492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🌙  night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晚上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5074920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C3E50"/>
                </a:solidFill>
              </a:rPr>
              <a:t>⏰  o'clock</a:t>
            </a:r>
          </a:p>
          <a:p>
            <a:pPr algn="ctr"/>
            <a:r>
              <a:rPr sz="1600">
                <a:solidFill>
                  <a:srgbClr val="16A085"/>
                </a:solidFill>
              </a:rPr>
              <a:t>...點鐘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Numbers 1-5 數字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數字 1–5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🕐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one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一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21711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🕑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two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二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ㄦˋ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2575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🕒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three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三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ㄙㄢ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3439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🕓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four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四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ㄙˋ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44303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🕔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five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五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ㄨˇ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Numbers 6-10 數字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數字 6–10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🕕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six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六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ㄌㄧㄡˋ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21711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🕖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seven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七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ㄑㄧ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2575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🕗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eight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八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ㄅㄚ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3439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🕘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nine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九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ㄐㄧㄡˇ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44303" y="1783080"/>
            <a:ext cx="2066544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🕙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ten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十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ㄕˊ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Time Words 時間相關字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時間相關字（一）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🕐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clock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時鐘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ㄕˊ ㄓㄨㄥ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28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⌚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time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時間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ㄕˊ ㄐㄧㄢ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72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🌅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morning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早上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ㄗㄠˇ ˙ㄕㄤ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Time Words 時間相關字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時間相關字（二）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84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☀️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afternoon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下午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ㄒㄧㄚˋ ˙ㄨ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28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🌙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night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晚上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ㄨㄢˇ ˙ㄕㄤ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727" y="1783080"/>
            <a:ext cx="3627120" cy="393192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/>
              <a:t>⏰</a:t>
            </a:r>
          </a:p>
          <a:p>
            <a:pPr algn="ctr"/>
            <a:r>
              <a:rPr sz="3000" b="1">
                <a:solidFill>
                  <a:srgbClr val="0E6B59"/>
                </a:solidFill>
              </a:rPr>
              <a:t>o'clock</a:t>
            </a:r>
          </a:p>
          <a:p>
            <a:pPr algn="ctr"/>
            <a:r>
              <a:rPr sz="2400" b="1">
                <a:solidFill>
                  <a:srgbClr val="2C3E50"/>
                </a:solidFill>
              </a:rPr>
              <a:t>...點鐘</a:t>
            </a:r>
          </a:p>
          <a:p>
            <a:pPr algn="ctr"/>
            <a:r>
              <a:rPr sz="1800">
                <a:solidFill>
                  <a:srgbClr val="7F8C8D"/>
                </a:solidFill>
              </a:rPr>
              <a:t>ㄉㄧㄢˇ ㄓㄨㄥ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E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Sentence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句型練習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Sentence Pattern 1/2 句型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句型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13716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What time is it?  It's ___ o'clock.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9087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C3E50"/>
                </a:solidFill>
              </a:rPr>
              <a:t>現在幾點？　現在 ___ 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E6B59"/>
                </a:solidFill>
              </a:rPr>
              <a:t>例句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156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0E6B59"/>
                </a:solidFill>
              </a:rPr>
              <a:t>  It's three o'clock.</a:t>
            </a:r>
            <a:r>
              <a:rPr sz="2000">
                <a:solidFill>
                  <a:srgbClr val="7F8C8D"/>
                </a:solidFill>
              </a:rPr>
              <a:t>    現在三點。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32120"/>
            <a:ext cx="105156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0E6B59"/>
                </a:solidFill>
              </a:rPr>
              <a:t>  It's seven o'clock.</a:t>
            </a:r>
            <a:r>
              <a:rPr sz="2000">
                <a:solidFill>
                  <a:srgbClr val="7F8C8D"/>
                </a:solidFill>
              </a:rPr>
              <a:t>    現在七點。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Sentence Pattern 2/2 句型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句型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137160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I ___ at ___ o'clock.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9087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2C3E50"/>
                </a:solidFill>
              </a:rPr>
              <a:t>我 ___ 點 ___。（描述每天作息）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E6B59"/>
                </a:solidFill>
              </a:rPr>
              <a:t>例句 Examples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72000"/>
            <a:ext cx="105156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0E6B59"/>
                </a:solidFill>
              </a:rPr>
              <a:t>  I eat breakfast at seven o'clock.</a:t>
            </a:r>
            <a:r>
              <a:rPr sz="2000">
                <a:solidFill>
                  <a:srgbClr val="7F8C8D"/>
                </a:solidFill>
              </a:rPr>
              <a:t>    我七點吃早餐。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32120"/>
            <a:ext cx="1051560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0E6B59"/>
                </a:solidFill>
              </a:rPr>
              <a:t>  I go to school at eight o'clock.</a:t>
            </a:r>
            <a:r>
              <a:rPr sz="2000">
                <a:solidFill>
                  <a:srgbClr val="7F8C8D"/>
                </a:solidFill>
              </a:rPr>
              <a:t>    我八點上學。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E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Dialogue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對話閱讀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Dialogue 對話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對話：Ken 和 Sue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Ken: Excuse me. What time is it?</a:t>
            </a:r>
            <a:r>
              <a:rPr sz="1700">
                <a:solidFill>
                  <a:srgbClr val="F2F2F2"/>
                </a:solidFill>
              </a:rPr>
              <a:t>   打擾一下。現在幾點？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44975" y="242316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Sue: It's three o'clock in the afternoon.</a:t>
            </a:r>
            <a:r>
              <a:rPr sz="1700">
                <a:solidFill>
                  <a:srgbClr val="F2F2F2"/>
                </a:solidFill>
              </a:rPr>
              <a:t>   現在下午三點。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39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Ken: Oh no! I'm late for class!</a:t>
            </a:r>
            <a:r>
              <a:rPr sz="1700">
                <a:solidFill>
                  <a:srgbClr val="F2F2F2"/>
                </a:solidFill>
              </a:rPr>
              <a:t>   糟糕！我上課要遲到了！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4975" y="416052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Sue: Class starts at three, right? Run!</a:t>
            </a:r>
            <a:r>
              <a:rPr sz="1700">
                <a:solidFill>
                  <a:srgbClr val="F2F2F2"/>
                </a:solidFill>
              </a:rPr>
              <a:t>   三點上課，對嗎？快跑！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7589520" cy="786384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Ken: When does class end?</a:t>
            </a:r>
            <a:r>
              <a:rPr sz="1700">
                <a:solidFill>
                  <a:srgbClr val="F2F2F2"/>
                </a:solidFill>
              </a:rPr>
              <a:t>   課什麼時候結束？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4975" y="5897880"/>
            <a:ext cx="7589520" cy="786384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Sue: At five o'clock. Don't worry!</a:t>
            </a:r>
            <a:r>
              <a:rPr sz="1700">
                <a:solidFill>
                  <a:srgbClr val="F2F2F2"/>
                </a:solidFill>
              </a:rPr>
              <a:t>   五點。別擔心！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0E6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單元測驗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Quiz 1-3 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小測驗 Quiz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5486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Q1.  「It's seven o'clock.」是什麼意思？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39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(A) 現在七點了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148839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(B) 我七歲了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33472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(C) 有七個人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633472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(D) 第七天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36975"/>
            <a:ext cx="11091672" cy="5486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Q2.  下午的英文是？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31335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(A) morning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31335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(B) night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(C) afternoon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315968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(D) evening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9471"/>
            <a:ext cx="11091672" cy="5486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Q3.  怎麼問現在幾點？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13831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(A) Where is the clock?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5513831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(B) What time is 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998463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(C) How many clocks?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5998463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(D) Is it time?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Quiz 4-5 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小測驗 Quiz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91672" cy="5486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Q4.  對話中課程幾點結束？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39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(A) 三點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148839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(B) 四點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33472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(C) 五點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633472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(D) 六點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36975"/>
            <a:ext cx="11091672" cy="54864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100" b="1">
                <a:solidFill>
                  <a:srgbClr val="FFFFFF"/>
                </a:solidFill>
              </a:rPr>
              <a:t>  Q5.  Which word means 早上?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31335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(A) night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831335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(B) afternoon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(C) o'clock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315968"/>
            <a:ext cx="5440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  (D) morning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Answers 解答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測驗解答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645920"/>
            <a:ext cx="10149840" cy="78638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C3E50"/>
                </a:solidFill>
              </a:rPr>
              <a:t>  Q1   </a:t>
            </a:r>
            <a:r>
              <a:rPr sz="2200" b="1">
                <a:solidFill>
                  <a:srgbClr val="27AE60"/>
                </a:solidFill>
              </a:rPr>
              <a:t>✓ (A) 現在七點了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560320"/>
            <a:ext cx="10149840" cy="78638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C3E50"/>
                </a:solidFill>
              </a:rPr>
              <a:t>  Q2   </a:t>
            </a:r>
            <a:r>
              <a:rPr sz="2200" b="1">
                <a:solidFill>
                  <a:srgbClr val="27AE60"/>
                </a:solidFill>
              </a:rPr>
              <a:t>✓ (C) afternoon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474720"/>
            <a:ext cx="10149840" cy="78638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C3E50"/>
                </a:solidFill>
              </a:rPr>
              <a:t>  Q3   </a:t>
            </a:r>
            <a:r>
              <a:rPr sz="2200" b="1">
                <a:solidFill>
                  <a:srgbClr val="27AE60"/>
                </a:solidFill>
              </a:rPr>
              <a:t>✓ (B) What time is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389120"/>
            <a:ext cx="10149840" cy="78638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C3E50"/>
                </a:solidFill>
              </a:rPr>
              <a:t>  Q4   </a:t>
            </a:r>
            <a:r>
              <a:rPr sz="2200" b="1">
                <a:solidFill>
                  <a:srgbClr val="27AE60"/>
                </a:solidFill>
              </a:rPr>
              <a:t>✓ (C) 五點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303520"/>
            <a:ext cx="10149840" cy="786384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2C3E50"/>
                </a:solidFill>
              </a:rPr>
              <a:t>  Q5   </a:t>
            </a:r>
            <a:r>
              <a:rPr sz="2200" b="1">
                <a:solidFill>
                  <a:srgbClr val="27AE60"/>
                </a:solidFill>
              </a:rPr>
              <a:t>✓ (D) morning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700" b="1">
                <a:solidFill>
                  <a:srgbClr val="FFFFFF"/>
                </a:solidFill>
              </a:rPr>
              <a:t>   Unit 7 · What Time Is It?   ⏰   Tutor Guide 大學伴提示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0E6B59"/>
                </a:solidFill>
              </a:rPr>
              <a:t>給大學伴的教學提示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11091672" cy="502920"/>
          </a:xfrm>
          <a:prstGeom prst="roundRect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🎯 教學重點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110916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•  用時鐘玩具或畫時鐘練習整點報時。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morning / afternoon / night 對應一天的三個時段。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o'clock 拼字有撇號 ( ' )，要帶學生練習寫。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64408"/>
            <a:ext cx="11091672" cy="502920"/>
          </a:xfrm>
          <a:prstGeom prst="round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⚠️ 常見錯誤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13048"/>
            <a:ext cx="110916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•  three 的 th 發 /θ/，不是 /s/。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It's three. 容易漏掉 o'clock，應說 It's three o'clock.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What time is it? 常被簡化成 What time?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0056"/>
            <a:ext cx="11091672" cy="502920"/>
          </a:xfrm>
          <a:prstGeom prst="round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  💬 互動引導語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68696"/>
            <a:ext cx="1109167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>
                <a:solidFill>
                  <a:srgbClr val="2C3E50"/>
                </a:solidFill>
              </a:rPr>
              <a:t>•  用 It's ___ o'clock 報出現在時間。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用 I ___ at ___ o'clock 介紹你的一天作息。</a:t>
            </a:r>
          </a:p>
          <a:p>
            <a:pPr algn="l"/>
            <a:r>
              <a:rPr sz="1800">
                <a:solidFill>
                  <a:srgbClr val="2C3E50"/>
                </a:solidFill>
              </a:rPr>
              <a:t>•  你幾點起床？幾點睡覺？最喜歡哪個時段？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0" b="0">
                <a:solidFill>
                  <a:srgbClr val="FFFFFF"/>
                </a:solidFill>
              </a:rPr>
              <a:t>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Good Job!  你做得很棒！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2628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</a:rPr>
              <a:t>Unit 7 · What Time Is It?  現在幾點？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🌐 線上互動版　https://Yuchiaoniu.github.io/english/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