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0">
                <a:solidFill>
                  <a:srgbClr val="2C3E50"/>
                </a:solidFill>
              </a:rPr>
              <a:t>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2C3E50"/>
                </a:solidFill>
              </a:rPr>
              <a:t>Unit 9 · How Do You Feel?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2C3E50"/>
                </a:solidFill>
              </a:rPr>
              <a:t>你感覺怎麼樣？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2C3E50"/>
                </a:solidFill>
              </a:rPr>
              <a:t>四年級英語 · 單字 9 · 連連看 · 句型填空 · 會話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2C3E50"/>
                </a:solidFill>
              </a:rPr>
              <a:t>🌐  https://Yuchiaoniu.github.io/english/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Vocabulary 單字總覽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本課單字 9 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" y="1600200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😄  happy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快樂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5384" y="1600200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😢  sad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難過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600200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😠  angry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生氣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182112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😨  scared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害怕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15384" y="3182112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😲  shocked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震驚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3182112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🤒  sick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生病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764024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🏆  proud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驕傲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4" y="4764024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💪  confident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有自信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4764024"/>
            <a:ext cx="36118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C3E50"/>
                </a:solidFill>
              </a:rPr>
              <a:t>😎  cool</a:t>
            </a:r>
          </a:p>
          <a:p>
            <a:pPr algn="ctr"/>
            <a:r>
              <a:rPr sz="2000">
                <a:solidFill>
                  <a:srgbClr val="B07309"/>
                </a:solidFill>
              </a:rPr>
              <a:t>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Vocabulary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情緒詞（一）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12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😄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happy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快樂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ㄎㄨㄞˋ ㄌㄜˋ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04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😢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sad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難過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ㄋㄢˊ ㄍㄨㄛˋ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896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😠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angry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生氣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ㄕㄥ ㄑㄧˋ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Vocabulary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情緒詞（二）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12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😨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scared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害怕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ㄏㄞˋ ㄆㄚˋ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04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😲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shocked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震驚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ㄓㄣˋ ㄐㄧㄥ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896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🤒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sick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生病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ㄕㄥ ㄅㄧㄥˋ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Vocabulary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情緒詞（三）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12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🏆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proud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驕傲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ㄐㄧㄠ ㄠˋ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704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💪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confident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有自信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ㄧㄡˇ ㄗˋ ㄒㄧㄣˋ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98967" y="1783080"/>
            <a:ext cx="365760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200"/>
              <a:t>😎</a:t>
            </a:r>
          </a:p>
          <a:p>
            <a:pPr algn="ctr"/>
            <a:r>
              <a:rPr sz="3200" b="1">
                <a:solidFill>
                  <a:srgbClr val="B07309"/>
                </a:solidFill>
              </a:rPr>
              <a:t>cool</a:t>
            </a:r>
          </a:p>
          <a:p>
            <a:pPr algn="ctr"/>
            <a:r>
              <a:rPr sz="2600" b="1">
                <a:solidFill>
                  <a:srgbClr val="2C3E50"/>
                </a:solidFill>
              </a:rPr>
              <a:t>酷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ㄎㄨˋ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2C3E50"/>
                </a:solidFill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Matching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連連看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Matching 1 連連看（一）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連連看（一）：單字 ↔ 中文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請將左邊英文單字與右邊中文意義配對。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65960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A.   </a:t>
            </a:r>
            <a:r>
              <a:rPr sz="2200" b="1">
                <a:solidFill>
                  <a:srgbClr val="2C3E50"/>
                </a:solidFill>
              </a:rPr>
              <a:t>scared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52928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B.   </a:t>
            </a:r>
            <a:r>
              <a:rPr sz="2200" b="1">
                <a:solidFill>
                  <a:srgbClr val="2C3E50"/>
                </a:solidFill>
              </a:rPr>
              <a:t>happy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39896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C.   </a:t>
            </a:r>
            <a:r>
              <a:rPr sz="2200" b="1">
                <a:solidFill>
                  <a:srgbClr val="2C3E50"/>
                </a:solidFill>
              </a:rPr>
              <a:t>sick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26864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D.   </a:t>
            </a:r>
            <a:r>
              <a:rPr sz="2200" b="1">
                <a:solidFill>
                  <a:srgbClr val="2C3E50"/>
                </a:solidFill>
              </a:rPr>
              <a:t>angry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13831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E.   </a:t>
            </a:r>
            <a:r>
              <a:rPr sz="2200" b="1">
                <a:solidFill>
                  <a:srgbClr val="2C3E50"/>
                </a:solidFill>
              </a:rPr>
              <a:t>sad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965960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1.   </a:t>
            </a:r>
            <a:r>
              <a:rPr sz="2200" b="1">
                <a:solidFill>
                  <a:srgbClr val="2C3E50"/>
                </a:solidFill>
              </a:rPr>
              <a:t>難過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852928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2.   </a:t>
            </a:r>
            <a:r>
              <a:rPr sz="2200" b="1">
                <a:solidFill>
                  <a:srgbClr val="2C3E50"/>
                </a:solidFill>
              </a:rPr>
              <a:t>害怕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739896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3.   </a:t>
            </a:r>
            <a:r>
              <a:rPr sz="2200" b="1">
                <a:solidFill>
                  <a:srgbClr val="2C3E50"/>
                </a:solidFill>
              </a:rPr>
              <a:t>生氣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4626864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4.   </a:t>
            </a:r>
            <a:r>
              <a:rPr sz="2200" b="1">
                <a:solidFill>
                  <a:srgbClr val="2C3E50"/>
                </a:solidFill>
              </a:rPr>
              <a:t>生病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5513831"/>
            <a:ext cx="43891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5.   </a:t>
            </a:r>
            <a:r>
              <a:rPr sz="2200" b="1">
                <a:solidFill>
                  <a:srgbClr val="2C3E50"/>
                </a:solidFill>
              </a:rPr>
              <a:t>快樂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Matching 2 連連看（二）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連連看（二）：情境 ↔ 情緒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</a:rPr>
              <a:t>請看左邊情境句，從右邊找出對應的情緒詞。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A.   </a:t>
            </a:r>
            <a:r>
              <a:rPr sz="2200" b="1">
                <a:solidFill>
                  <a:srgbClr val="2C3E50"/>
                </a:solidFill>
              </a:rPr>
              <a:t>I got 100 in the test!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73552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B.   </a:t>
            </a:r>
            <a:r>
              <a:rPr sz="2200" b="1">
                <a:solidFill>
                  <a:srgbClr val="2C3E50"/>
                </a:solidFill>
              </a:rPr>
              <a:t>Surprise! Happy birthday!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98264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C.   </a:t>
            </a:r>
            <a:r>
              <a:rPr sz="2200" b="1">
                <a:solidFill>
                  <a:srgbClr val="2C3E50"/>
                </a:solidFill>
              </a:rPr>
              <a:t>I'll win the race!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522976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D.   </a:t>
            </a:r>
            <a:r>
              <a:rPr sz="2200" b="1">
                <a:solidFill>
                  <a:srgbClr val="2C3E50"/>
                </a:solidFill>
              </a:rPr>
              <a:t>Look at my sunglasses!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148840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1.   </a:t>
            </a:r>
            <a:r>
              <a:rPr sz="2200" b="1">
                <a:solidFill>
                  <a:srgbClr val="2C3E50"/>
                </a:solidFill>
              </a:rPr>
              <a:t>cool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273552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2.   </a:t>
            </a:r>
            <a:r>
              <a:rPr sz="2200" b="1">
                <a:solidFill>
                  <a:srgbClr val="2C3E50"/>
                </a:solidFill>
              </a:rPr>
              <a:t>confident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398264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3.   </a:t>
            </a:r>
            <a:r>
              <a:rPr sz="2200" b="1">
                <a:solidFill>
                  <a:srgbClr val="2C3E50"/>
                </a:solidFill>
              </a:rPr>
              <a:t>proud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5522976"/>
            <a:ext cx="43891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B07309"/>
                </a:solidFill>
              </a:rPr>
              <a:t>  4.   </a:t>
            </a:r>
            <a:r>
              <a:rPr sz="2200" b="1">
                <a:solidFill>
                  <a:srgbClr val="2C3E50"/>
                </a:solidFill>
              </a:rPr>
              <a:t>shocked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2C3E50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Pattern &amp; Fill-in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句型填空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Pattern 1/2 句型填空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句型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91672" cy="8686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C3E50"/>
                </a:solidFill>
              </a:rPr>
              <a:t>I feel ___.       /       I am ___.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087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</a:rPr>
              <a:t>我覺得 ___ 。  /  我 ___ 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7309"/>
                </a:solidFill>
              </a:rPr>
              <a:t>例句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10128"/>
            <a:ext cx="10972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B07309"/>
                </a:solidFill>
              </a:rPr>
              <a:t>  • I feel happy when I play games.</a:t>
            </a:r>
            <a:r>
              <a:rPr sz="1500">
                <a:solidFill>
                  <a:srgbClr val="7F8C8D"/>
                </a:solidFill>
              </a:rPr>
              <a:t>       我玩遊戲時覺得很快樂。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03904"/>
            <a:ext cx="10972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B07309"/>
                </a:solidFill>
              </a:rPr>
              <a:t>  • I am sad because I lost my book.</a:t>
            </a:r>
            <a:r>
              <a:rPr sz="1500">
                <a:solidFill>
                  <a:srgbClr val="7F8C8D"/>
                </a:solidFill>
              </a:rPr>
              <a:t>       我很難過因為我弄丟了書。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7309"/>
                </a:solidFill>
              </a:rPr>
              <a:t>填空練習 Fill in the blank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10972800" cy="45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2C3E50"/>
                </a:solidFill>
              </a:rPr>
              <a:t>  1.  I feel ___ when my team wins.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(A) proud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525780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(B) sad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39" y="525780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(C) sick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60720"/>
            <a:ext cx="10972800" cy="45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2C3E50"/>
                </a:solidFill>
              </a:rPr>
              <a:t>  2.  I am ___ because the dog is so big!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626364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(A) happy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8160" y="626364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(B) scared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626364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(C) cool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Pattern 2/2 句型填空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句型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91672" cy="86868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C3E50"/>
                </a:solidFill>
              </a:rPr>
              <a:t>He / She looks ___.       /       Why are you ___?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9087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</a:rPr>
              <a:t>他／她看起來 ___ 。  /  你為什麼 ___ 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7309"/>
                </a:solidFill>
              </a:rPr>
              <a:t>例句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10128"/>
            <a:ext cx="10972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B07309"/>
                </a:solidFill>
              </a:rPr>
              <a:t>  • She looks angry today.</a:t>
            </a:r>
            <a:r>
              <a:rPr sz="1500">
                <a:solidFill>
                  <a:srgbClr val="7F8C8D"/>
                </a:solidFill>
              </a:rPr>
              <a:t>       她今天看起來在生氣。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03904"/>
            <a:ext cx="109728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B07309"/>
                </a:solidFill>
              </a:rPr>
              <a:t>  • Why are you so happy?</a:t>
            </a:r>
            <a:r>
              <a:rPr sz="1500">
                <a:solidFill>
                  <a:srgbClr val="7F8C8D"/>
                </a:solidFill>
              </a:rPr>
              <a:t>       你為什麼這麼快樂？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70832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B07309"/>
                </a:solidFill>
              </a:rPr>
              <a:t>填空練習 Fill in the blank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10972800" cy="45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2C3E50"/>
                </a:solidFill>
              </a:rPr>
              <a:t>  1.  He looks ___. He has a fever.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(A) cool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525780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(B) sick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39" y="525780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(C) proud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760720"/>
            <a:ext cx="10972800" cy="4572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700" b="1">
                <a:solidFill>
                  <a:srgbClr val="2C3E50"/>
                </a:solidFill>
              </a:rPr>
              <a:t>  2.  Why are you so ___? You won the contest!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626364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(A) sad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8160" y="626364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(B) proud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6239" y="6263640"/>
            <a:ext cx="359664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DA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>
                <a:solidFill>
                  <a:srgbClr val="2C3E50"/>
                </a:solidFill>
              </a:rPr>
              <a:t>(C) angry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B07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2C3E50"/>
                </a:solidFill>
              </a:rPr>
              <a:t>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Dialogue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會話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Dialogue 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Ken 和 Sue 的對話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7589520" cy="786384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Sue: Hi, Ken! How are you today?</a:t>
            </a:r>
            <a:r>
              <a:rPr sz="1600">
                <a:solidFill>
                  <a:srgbClr val="F2F2F2"/>
                </a:solidFill>
              </a:rPr>
              <a:t>   嗨 Ken！你今天怎麼樣？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44975" y="2423160"/>
            <a:ext cx="7589520" cy="786384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Ken: I feel a little sick.</a:t>
            </a:r>
            <a:r>
              <a:rPr sz="1600">
                <a:solidFill>
                  <a:srgbClr val="F2F2F2"/>
                </a:solidFill>
              </a:rPr>
              <a:t>   我覺得有點不舒服。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39"/>
            <a:ext cx="7589520" cy="786384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Sue: Oh no! I'm sad to hear that.</a:t>
            </a:r>
            <a:r>
              <a:rPr sz="1600">
                <a:solidFill>
                  <a:srgbClr val="F2F2F2"/>
                </a:solidFill>
              </a:rPr>
              <a:t>   喔不！聽到這個我很難過。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4975" y="4160520"/>
            <a:ext cx="7589520" cy="786384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Ken: But guess what? I got 100 in math!</a:t>
            </a:r>
            <a:r>
              <a:rPr sz="1600">
                <a:solidFill>
                  <a:srgbClr val="F2F2F2"/>
                </a:solidFill>
              </a:rPr>
              <a:t>   但你猜怎麼著？我數學考了 100 分！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7589520" cy="786384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Sue: Wow! That's so cool! You should be proud!</a:t>
            </a:r>
            <a:r>
              <a:rPr sz="1600">
                <a:solidFill>
                  <a:srgbClr val="F2F2F2"/>
                </a:solidFill>
              </a:rPr>
              <a:t>   哇！超酷的！你應該很驕傲！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4975" y="5897880"/>
            <a:ext cx="7589520" cy="786384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Ken: I am! And I feel confident and happy now.</a:t>
            </a:r>
            <a:r>
              <a:rPr sz="1600">
                <a:solidFill>
                  <a:srgbClr val="F2F2F2"/>
                </a:solidFill>
              </a:rPr>
              <a:t>   對啊！而且現在我很有自信也很快樂。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2C3E50"/>
                </a:solidFill>
              </a:rPr>
              <a:t>   Unit 9 · How Do You Feel?   💛   Answers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B07309"/>
                </a:solidFill>
              </a:rPr>
              <a:t>練習解答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08792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2C3E50"/>
                </a:solidFill>
              </a:rPr>
              <a:t>  連連看一   </a:t>
            </a:r>
            <a:r>
              <a:rPr sz="2000" b="1">
                <a:solidFill>
                  <a:srgbClr val="27AE60"/>
                </a:solidFill>
              </a:rPr>
              <a:t>A–2  ·  B–5  ·  C–4  ·  D–3  ·  E–1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908792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2C3E50"/>
                </a:solidFill>
              </a:rPr>
              <a:t>  連連看二   </a:t>
            </a:r>
            <a:r>
              <a:rPr sz="2000" b="1">
                <a:solidFill>
                  <a:srgbClr val="27AE60"/>
                </a:solidFill>
              </a:rPr>
              <a:t>A–3  ·  B–4  ·  C–2  ·  D–1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0908792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2C3E50"/>
                </a:solidFill>
              </a:rPr>
              <a:t>  句型 1 · 第 1 題   </a:t>
            </a:r>
            <a:r>
              <a:rPr sz="2000" b="1">
                <a:solidFill>
                  <a:srgbClr val="27AE60"/>
                </a:solidFill>
              </a:rPr>
              <a:t>✓ (A) proud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10908792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2C3E50"/>
                </a:solidFill>
              </a:rPr>
              <a:t>  句型 1 · 第 2 題   </a:t>
            </a:r>
            <a:r>
              <a:rPr sz="2000" b="1">
                <a:solidFill>
                  <a:srgbClr val="27AE60"/>
                </a:solidFill>
              </a:rPr>
              <a:t>✓ (B) scared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08792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2C3E50"/>
                </a:solidFill>
              </a:rPr>
              <a:t>  句型 2 · 第 1 題   </a:t>
            </a:r>
            <a:r>
              <a:rPr sz="2000" b="1">
                <a:solidFill>
                  <a:srgbClr val="27AE60"/>
                </a:solidFill>
              </a:rPr>
              <a:t>✓ (B) sick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69280"/>
            <a:ext cx="10908792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2C3E50"/>
                </a:solidFill>
              </a:rPr>
              <a:t>  句型 2 · 第 2 題   </a:t>
            </a:r>
            <a:r>
              <a:rPr sz="2000" b="1">
                <a:solidFill>
                  <a:srgbClr val="27AE60"/>
                </a:solidFill>
              </a:rPr>
              <a:t>✓ (B) proud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1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0" b="0">
                <a:solidFill>
                  <a:srgbClr val="2C3E50"/>
                </a:solidFill>
              </a:rPr>
              <a:t>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2C3E50"/>
                </a:solidFill>
              </a:rPr>
              <a:t>Great Job!  你做得很棒！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2C3E50"/>
                </a:solidFill>
              </a:rPr>
              <a:t>Unit 9 · How Do You Feel?  你感覺怎麼樣？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</a:rPr>
              <a:t>🌐 線上互動版　https://Yuchiaoniu.github.io/english/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